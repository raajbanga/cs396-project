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8e16fe74-8241-caac-a228-90bfb6ce9ef9}">
          <p14:sldIdLst>
            <p14:sldId id="256"/>
            <p14:sldId id="257"/>
          </p14:sldIdLst>
        </p14:section>
        <p14:section name="System design" id="{e77f9d3c-8a26-a8a6-6322-c007eddab67e}">
          <p14:sldIdLst>
            <p14:sldId id="258"/>
            <p14:sldId id="259"/>
            <p14:sldId id="260"/>
            <p14:sldId id="261"/>
          </p14:sldIdLst>
        </p14:section>
        <p14:section name="Live demo" id="{2e7e03d1-54f6-e26d-356b-c2446c4678dc}">
          <p14:sldIdLst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Wrap-up" id="{bab69752-2549-52d7-d942-d5dff152a225}">
          <p14:sldIdLst>
            <p14:sldId id="273"/>
            <p14:sldId id="274"/>
            <p14:sldId id="27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1. Title — Raaj + Arnav (0:15)
• Good afternoon. We are Raaj Banga and Arnav Bawankule.
    – both stand; Raaj opens
• This is epaData, our Phase 1 project for CS396.
• It collects EPA power-plant emissions data, checks it, and stores it in SQLite.
    – SQLite = a relational database kept in one file, with no separate database server
• You can then search, compare, and download that data.
    – one-sentence pitch; don't elaborate yet
• Plan: about five minutes of design, seven of live demo, then challenges and who did what.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2. EPA emissions data is authoritative but hard to use — Arnav (0:40)
• Power plants report their fuel use, generation, and emissions to the EPA.
    – SO₂ = sulfur dioxide · NOₓ = nitrogen oxides · CO₂ = carbon dioxide
• The EPA publishes those reports through CAMPD and its CAM API.
    – CAMPD = Clean Air Markets Program Data, the EPA's emissions data for power plants
    – CAM API = CAMPD's web interface for downloading that data in code
• The data is authoritative, but a simple question is hard to answer.
    – e.g. “Which Kentucky coal units emitted over 500,000 t of CO₂ in 2025?”
    – needs the right endpoint, a join with facility data, and a hand-applied threshold
    – and one API call per year for any history
• Spreadsheet extracts arrive with no easy way to check them.
    – missing values · negative numbers · the same unit-year twice
    – unit = one boiler or turbine inside a plant (a facility)
    – unit-year = one unit's totals for one year; the main record in our database
• Once sources are mixed, nobody knows which file a number came from.
• epaData stores 1,619 facilities, 5,204 units, and 50,947 unit-years from 2015 to 2026.
    – point at the figures under the home page title
    – 6,909 audit flags = records our data-quality rules marked as questionable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3. One Next.js app, one SQLite file — Raaj (0:50)
• epaData is one Next.js application containing both the interface and the server.
    – Next.js = a web framework that runs React pages and server code in one project
    – React = the library that builds the interface from components
    – one codebase, one process to run
• The first page arrives already rendered by the server, with its data filled in.
• After that, every search is a typed tRPC call.
    – tRPC = typed remote procedure calls: the browser calls server functions, and both sides share the same types
    – 17 procedures in total
• Every input is validated with Zod before it reaches the database.
    – Zod = a library that checks data against a declared schema and rejects anything else
• Two plain HTTP routes handle file upload and CSV export.
• All logic sits in shared server modules.
    – query builders · CAMPD client · one write path (ingest.ts) used by every import
• Every query goes through Drizzle ORM to one SQLite file.
    – ORM = object-relational mapper: builds SQL from TypeScript code
    – Drizzle = the ORM we use; it also runs the schema migrations
• Only two things leave the server process.
    – uploaded files → a Python parser
    – retrievals → the EPA CAM API
    – optional: OpenRouter = a gateway to hosted large language models (LLMs); dashed because it is optional
• API keys stay on the server; the browser never calls the EPA or OpenRouter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4. Two ways in, one write path, approval first — Raaj (0:40)
• Data enters two ways: Retrieve and Upload.
    – Retrieve calls the EPA CAM API
    – Upload accepts CSV or Excel files in the CAMPD column layout
    – a third path, the CLI (command-line) script sync:campd, skips the approval step
• Both paths validate every row first.
    – API rows → Zod · files → the Python parser
    – both drop repeated facility-unit-years (dedupe)
• Each incoming record is then compared with what the database already holds.
    – result: new · changed · unchanged counts
    – this is the DB-vs-API preview in demo step 3
• Nothing is written until the user approves.
• On approval, one shared write path saves everything in a single transaction.
    – upsert = insert a record, or update it if it already exists
    – computes heat rate (fuel energy per MWh generated) and CO₂ intensity (lb of CO₂ per MWh)
    – runs the sanity audits and records a dataset row (one per retrieval or upload)
    – transaction = all writes succeed together or none do
• Rejected and duplicate rows go to import_issues, so nothing is dropped silently.
• Everything you browse reads only the local database.
    – only Retrieve and the granular time series call the API live
    – point at the two source badges at the bottom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5. Six tables follow the shape of the data — Raaj (0:40)
• The schema follows the real hierarchy of the data.
    – facility → units → one annual record per unit per year
    – facilities.id is the EPA ORISPL code: the EPA's permanent plant ID, also used in URLs
• Two tables record provenance.
    – provenance = where each record came from
    – datasets: one row per retrieval or upload
    – import_issues: every rejected or duplicate source row, kept verbatim
    – the sixth table, data_audit_logs, holds the sanity flags
• An annual record is unique per unit and year.
    – its id is built from that pair, so re-importing a year updates the row instead of duplicating it
    – UNIQUE(unit_internal_id, year) is also the upsert target
• Metric columns may be NULL on purpose.
    – NULL = no value: the source did not report one, which differs from a measured zero
• Controls and program codes are stored per year, as the spec asks.
• Indexes match the real query shapes.
    – index = a sorted lookup structure that lets the database skip scanning whole tables
    – adding (facility_id, year) took the per-state ranking from 9.5 s to 22 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6. Implementation choices and why — Raaj (0:40)
• The course suggests Flask; we used Next.js with tRPC and Drizzle.
    – Flask = a Python web framework, usually paired with Jinja templates and the SQLAlchemy ORM
    – ours covers the same objectives (routes, templates, forms, ORM) in one typed codebase
• SQLite in one file means the database ships with the submission.
    – it also supports the window functions we use for ranking (slide 14)
• File parsing runs in Python.
    – its csv and openpyxl (Excel reader) libraries treat CSV and Excel the same way
    – returns a full validation report as JSON · Arnav's import feature
• Description search is rule-based first.
    – works offline, gives the same answer every time, covered by unit tests
    – a language model is only an optional fallback
• Retrieval previews before it saves.
    – the user sees the differences first
    – a failed fetch never leaves half a dataset behind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7. Ten steps, one story — Arnav (0:15)
• The demo has ten steps, each mapped to a rubric row.
    – we alternate presenters by who built that part
    – switch to the browser after this slide
• The steps tell one story.
    – step 2's sample upload deliberately edits one Trimble County CO₂ value
    – step 3's Retrieve catches that difference against the EPA API and restores EPA's number
    – shows both data paths and the DB-vs-API comparison together
• Steps 4 and 9 can be cut if we run long.
    – network down? see “If something goes wrong” at the end of slides-outline.md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8. Home page: what it is and where data comes from — Arnav (0:40)
• The intro paragraph says what epaData does and where its data comes from.
    – sources: the EPA CAMPD API and CSV or Excel uploads
    – TRACI = the EPA's method for turning emissions into environmental-impact scores; that is Phase 2
• The coverage chart shows unit-years per reporting year, 2015–2026.
    – hover a column for its count
    – data sources: “EPA CAMPD API: 12 active datasets and 18 superseded”
    – superseded = an earlier retrieval whose records a re-sync replaced; kept as history
• The figures show 1,619 facilities, 5,204 units, 50,947 unit-years, and 6,909 data-quality flags.
• Everything you browse reads the local database; only Retrieve and the granular time series call the API live.
    – say this verbatim: it is the rubric's “data source explanation”
    – each panel is labelled with its source
• The navigation bar follows the workflow: look at the data (Explore, Map), then move it in and out (Retrieve, Upload, Download).
    – “What you can do” lists the same functions · then click Upload in the navigation bar → step 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9. Upload: validate first, then import — Arnav (1:30)
• Upload accepts CSV and Excel files up to 100 MB.
    – click Upload in the navigation bar
    – drag in samples/annual-emissions-sample.csv (already open in Finder)
• The Python parser maps CAMPD column headers to database columns.
    – 5 columns stay unmapped: stack IDs, the operating-time count, and 3 rates epaData recomputes
    – Columns tab, if anyone asks
• Summary: 25 rows, 21 valid, 3 rejected, 1 duplicate, 1 audit flag.
• Compared with the database: 19 new, 1 changed, 1 unchanged.
    – Already in database (2): the two Trimble County 2023 rows; one “Will update co2MassTons”
• Each rejected row keeps its reason.
    – row 12: no unit ID · row 18: state “KZ” · row 19: negative CO₂
    – Duplicates in file (1): row 25 repeats row 4 (Ghent unit 1, 2014)
• Row 16 reported heat input but no CO₂, and that is real EPA data.
    – Robert Reid unit RT: 38,801.9 MMBtu (million British thermal units of fuel energy)
    – stored as “not reported” (NULL), not zero
    – flagged CO2_NOT_REPORTED, severity WARN
• Approve and import the 21 records.
    – click Approve and import 21 records
    – “Import complete” shows the dataset and the archived file under uploads/
• Download the rejected rows: nothing is dropped silently.
    – click Download rejected rows (4)
    – 3 rejected + 1 duplicate + the flagged record, each with its original columns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10. Retrieve: compare with the EPA API before saving — Raaj (1:15)
• Retrieve names its method: the EPA CAM API's apportioned annual emissions.
    – apportioned = the EPA splits a shared stack's emissions across the units behind it
    – the API key stays on the server
• Enter the parameters.
    – State = KY · Facility IDs = 6071 (Trimble County) · From year = 2023 · To year = 2023
• “Already in the local database” fills in on its own: 8 unit-years for 2023.
    – 2 written by the upload we just did · 6 by the EPA API
• Preview fetches from the API without writing anything.
    – click Preview year from the EPA
    – received 8 · new 0 · changed 1 · unchanged 7 · dropped 0
• The Changed tab shows the value our upload edited.
    – Trimble County unit 2 CO₂: 4,098,943.863 → 4,099,943.863
    – the API still has EPA's number: the punchline of the demo story
• Approve and save; the history gains a row.
    – click Approve and save year (1 new or changed)
    – status tiles: 0 new · 1 changed · 7 unchanged · 0 dropped
    – Past retrievals gains the row, with the exact query parameters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11. Basic search: name, filters, sort, page — Arnav (0:30)
• Searching by name finds plants, operators, and counties.
    – Explore · Facilities tab · type Ghent → Search → 1 facility
    – the box takes names too: text with no filter words becomes a name search
• Dropdowns filter the list.
    – clear the search (✕) · State = KY → 28 facilities
• Headers sort, and the footer pages through results.
    – page size + go-to-page control
    – optional step: cut if running long
• The server pages the results itself.
    – one ranked subquery (a query nested inside another) gives both the page of rows and the total count, so they always agree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12. Multi-constraint search across three tables — Raaj (0:40)
• Set four filters on the Unit-years tab.
    – Clear filters · Unit-years tab
    – State = KY · Fuel = Coal · Year = 2025
    – Advanced → CO₂ min = 500000
• Result: 25 unit-years.
    – switch to Facilities: the same filters give 8 facilities
• The conditions sit on three tables, combined with AND.
    – state → facility · fuel → unit · year and CO₂ → annual record
• The whole search lives in the URL.
    – point at the address bar: /explore?tab=units&amp;stateCode=KY&amp;primaryFuel=Coal&amp;year=2025&amp;co2MassTonsMin=500000
    – bookmark or share it; the CSV export parses the same URL
• Fuel and control filters match by substring.
    – CAMPD stores combined values like “Coal, Pipeline Natural Gas”
    – if asked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13. Description search: a sentence becomes filters — Raaj (0:40)
• The same search box turns a sentence into filters.
    – Clear filters · under the box, click Try “coal units in Kentucky with high CO2” → Search
• The sentence becomes “Interpreted as” chips: KY, Coal, and CO₂ ≥ 2,780,000.
    – sorted by CO₂ · 99 unit-years
    – “(parser; …)”: no language model was needed
    – without the upload: 2,720,000 and 97
• “High” has no fixed number, so we use a percentile.
    – 75th percentile (P75) = the value 75% of the matching unit-years fall below
    – computed over the other filters only, here Kentucky coal
    – the note under the chips states the rule
• The parser matches the longest known phrase at each position.
    – parser = code that reads the sentence and maps words to filter values
    – “natural gas” beats “gas” · word order doesn't matter
    – tolerates one-letter typos (“Kentuky”) · reports what it didn't understand
• Every chip is an ordinary filter.
    – click ✕ on Coal, then set Fuel back to Coal
    – first row: Paradise unit 3 in 2014, from our upload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14. Ranking with one window function — Raaj (0:30)
• Ranking also works from a sentence.
    – Clear filters · Facilities tab
    – type: top CO2-emitting facility in each state in 2024 → Search
• Result: 51 facilities, one per state, sorted by CO₂.
    – chips show what was set: Year 2024 · First 1 per state (Advanced has the same controls)
    – Kentucky's row is Ghent (page 2 at 10 per page)
• In SQL this is one window function.
    – window function = a calculation over a group of rows that keeps every row, unlike GROUP BY
    – ROW_NUMBER() numbers the rows · PARTITION BY state restarts the numbering for each state
    – keep rank 1 · point at PARTITION BY on the slide
• The page, count, and CSV export all come from this one subquery.
    – missing values sort last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15. Unit detail: thirteen years of history — Arnav (0:30)
• Open a unit to see its full history.
    – Clear filters · Unit-years tab · type Ghent → Search · click a Ghent Unit 1 row
• The details dialog shows identification, fuel, and each year's controls and programs.
    – its URL (?unit=…) reopens it on reload
    – controls = pollution equipment, e.g. a scrubber for SO₂
• It lists 13 reporting years, 2014–2026.
    – 2014 came from our upload · the rest from CAMPD API datasets
    – covers the spec's “same unit, 2015–2025” history search
• Audit flags for the unit, if any, are listed at the bottom.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16. Compare plants side by side — Arnav (0:30)
• Pick plants to compare.
    – Facilities · search Ghent → tick it · search Paradise → tick it
    – click Compare in the dock
• Capacity, generation, CO₂, carbon intensity, and controls appear side by side.
• Paradise comes out cleanest.
    – 861 vs 1,929 lb/MWh (pounds of CO₂ per megawatt-hour generated)
    – its current units burn gas
• The limit is four plants.
    – optional: tick 3 more → the dock says “Up to 4; remove one first”
    – optional step: cut if running long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17. Download: every record traces to its source — Raaj (0:45)
• Any result can be downloaded as CSV.
    – e.g. rerun step 5's search → click Download CSV next to the result count
    – every matching row, across all pages
• The Download page offers six types, in three numbered steps.
    – More options next to Download CSV opens it with the current search
    – complete dataset · valid records · invalid records · search results · selection · provenance
• Invalid records for the upload reproduce step 2's report.
    – pick Invalid records · select the upload dataset (“… CSV upload …”; the latest dataset is now step 3's retrieval) · Download CSV
    – rejected rows + the duplicate + the flagged record
• Provenance lists every dataset.
    – Try “provenance of every dataset” · Download CSV
    – source · date · query parameters · new / updated / unchanged / dropped counts
• Close with: every record traces to the retrieval or file that wrote it.
    – stay on: Raaj presents the challenges next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18. Technical challenges — Raaj (0:50)
• Combined values broke our filters.
    – CAMPD lists “Coal”, but units hold “Coal, Pipeline Natural Gas”
    – fix: split the options, match by substring
• Missing is not zero.
    – the first schema stored blanks as 0 → 6,105 false errors
    – fix: nullable metrics + a separate “not reported” warning
    – lesson: model absence explicitly
• Re-syncs left old datasets owning nothing.
    – deleting them would erase history
    – fix: keep them, labelled superseded
• The ORM generated wrong SQL.
    – an unqualified id bound to the wrong table
    – fix: qualify it · lesson: read the SQL an ORM writes
• “IN” and “OR” are both state codes and English words.
    – fix: two-letter codes count only in capitals
• One query shape was slow.
    – year-filtered rankings took up to 10 s
    – fix: an index on (facility_id, year) → 22 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19. Who built what — Arnav (0:30)
• Raaj led the backend.
    – schema, migrations, indexes
    – CAMPD client with preview and diff
    – shared write path, audits, provenance
    – search backend incl. description search · CSV export
    – also most of the Explore page, map, detail dialog, pages, tests, README, report
• Arnav led the frontend and built the CSV and Excel import.
    – Python parser and validation
    – data-quality report
    – upload endpoint and page with preview and approval
• We shared the API contracts, integration testing, sample data, and documentation.
    – each of us presented the parts we built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20. Questions? — Raaj + Arnav (0:10)
• Phase 2 builds on this foundation.
    – TRACI factors · environmental indicators from the stored records · a weighted scoring model
    – the same ranked queries and CSV path will serve the indicators
• Everything is reproducible from the README.
    – install, migrate, run · committed database and sample files included
• Thank you; we are happy to take questions.
    – likely: why Next.js not Flask (slide 6) · LLM safety (slide 13) · missing vs zero (slide 18)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85216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rgbClr val="2A1F16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EF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300" dirty="0">
                <a:solidFill>
                  <a:srgbClr val="6B5948"/>
                </a:solidFill>
              </a:defRPr>
            </a:lvl1pPr>
          </a:lstStyle>
          <a:p>
            <a:pPr indent="0" marL="0">
              <a:buNone/>
            </a:pP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2A1F16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/>
        </p:nvSpPr>
        <p:spPr>
          <a:xfrm>
            <a:off x="548640" y="64008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</a:rPr>
              <a:t>epaData · CS396 Phase 1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745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2A1F16"/>
                </a:solidFill>
              </a:rPr>
              <a:t>epaData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CS396 · Phase 1 · October 2026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4A3A2C"/>
                </a:solidFill>
              </a:rPr>
              <a:t>Retrieving, validating, searching, and tracing EPA power-plant emissions data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48640" y="4343400"/>
            <a:ext cx="420624" cy="420624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4343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4306824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Raaj Banga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Backend lead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910328"/>
            <a:ext cx="420624" cy="420624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49103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AB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4873752"/>
            <a:ext cx="36576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Arnav Bawankule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Frontend lead</a:t>
            </a:r>
            <a:endParaRPr lang="en-US" sz="1500" dirty="0"/>
          </a:p>
        </p:txBody>
      </p:sp>
      <p:sp>
        <p:nvSpPr>
          <p:cNvPr id="11" name="epaData home page frame"/>
          <p:cNvSpPr/>
          <p:nvPr/>
        </p:nvSpPr>
        <p:spPr>
          <a:xfrm>
            <a:off x="5943600" y="1417320"/>
            <a:ext cx="5696712" cy="3608451"/>
          </a:xfrm>
          <a:prstGeom prst="roundRect">
            <a:avLst>
              <a:gd name="adj" fmla="val 152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12" name="epaData home page" descr="epaData home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481328"/>
            <a:ext cx="5568696" cy="3480435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5943600" y="5166360"/>
            <a:ext cx="3225338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localhost:3000 · Next.js 16 · SQLite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Why epaData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EPA emissions data is authoritative but hard to use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539496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query.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One API call per year, joins with facility data, thresholds applied by hand.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“Kentucky coal units over 500,000 t CO₂ in 2025?”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trust.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Spreadsheet extracts arrive unchecked.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missing values · negatives · repeated unit-years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Hard to trace.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Once sources mix, the origin of each figure is lost.</a:t>
            </a:r>
            <a:endParaRPr lang="en-US" sz="17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400" dirty="0">
                <a:solidFill>
                  <a:srgbClr val="6B5948"/>
                </a:solidFill>
              </a:rPr>
              <a:t>which retrieval or file wrote this number?</a:t>
            </a:r>
            <a:endParaRPr lang="en-US" sz="17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700" b="1" dirty="0">
                <a:solidFill>
                  <a:srgbClr val="2A1F16"/>
                </a:solidFill>
              </a:rPr>
              <a:t>Users:</a:t>
            </a:r>
            <a:pPr indent="0" marL="0">
              <a:lnSpc>
                <a:spcPct val="105000"/>
              </a:lnSpc>
              <a:buNone/>
            </a:pPr>
            <a:r>
              <a:rPr lang="en-US" sz="1700" dirty="0">
                <a:solidFill>
                  <a:srgbClr val="4A3A2C"/>
                </a:solidFill>
              </a:rPr>
              <a:t> students, analysts, and reviewers who don't write SQL or API code.</a:t>
            </a:r>
            <a:endParaRPr lang="en-US" sz="1700" dirty="0"/>
          </a:p>
        </p:txBody>
      </p:sp>
      <p:sp>
        <p:nvSpPr>
          <p:cNvPr id="5" name="stat facilities"/>
          <p:cNvSpPr/>
          <p:nvPr/>
        </p:nvSpPr>
        <p:spPr>
          <a:xfrm>
            <a:off x="6446520" y="173736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4652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1,619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4652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facilities</a:t>
            </a:r>
            <a:endParaRPr lang="en-US" sz="1300" dirty="0"/>
          </a:p>
        </p:txBody>
      </p:sp>
      <p:sp>
        <p:nvSpPr>
          <p:cNvPr id="8" name="stat generating units"/>
          <p:cNvSpPr/>
          <p:nvPr/>
        </p:nvSpPr>
        <p:spPr>
          <a:xfrm>
            <a:off x="9098280" y="173736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098280" y="201168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5,204</a:t>
            </a:r>
            <a:endParaRPr lang="en-US" sz="3600" dirty="0"/>
          </a:p>
        </p:txBody>
      </p:sp>
      <p:sp>
        <p:nvSpPr>
          <p:cNvPr id="10" name="Text 8"/>
          <p:cNvSpPr txBox="1"/>
          <p:nvPr/>
        </p:nvSpPr>
        <p:spPr>
          <a:xfrm>
            <a:off x="9098280" y="26517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generating units</a:t>
            </a:r>
            <a:endParaRPr lang="en-US" sz="1300" dirty="0"/>
          </a:p>
        </p:txBody>
      </p:sp>
      <p:sp>
        <p:nvSpPr>
          <p:cNvPr id="11" name="stat unit-years · 2015–2026"/>
          <p:cNvSpPr/>
          <p:nvPr/>
        </p:nvSpPr>
        <p:spPr>
          <a:xfrm>
            <a:off x="6446520" y="361188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4652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A1F16"/>
                </a:solidFill>
              </a:rPr>
              <a:t>50,947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644652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unit-years · 2015–2026</a:t>
            </a:r>
            <a:endParaRPr lang="en-US" sz="1300" dirty="0"/>
          </a:p>
        </p:txBody>
      </p:sp>
      <p:sp>
        <p:nvSpPr>
          <p:cNvPr id="14" name="stat audit flags raised"/>
          <p:cNvSpPr/>
          <p:nvPr/>
        </p:nvSpPr>
        <p:spPr>
          <a:xfrm>
            <a:off x="9098280" y="3611880"/>
            <a:ext cx="24688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98280" y="388620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45309"/>
                </a:solidFill>
              </a:rPr>
              <a:t>6,909</a:t>
            </a:r>
            <a:endParaRPr lang="en-US" sz="3600" dirty="0"/>
          </a:p>
        </p:txBody>
      </p:sp>
      <p:sp>
        <p:nvSpPr>
          <p:cNvPr id="16" name="Text 14"/>
          <p:cNvSpPr txBox="1"/>
          <p:nvPr/>
        </p:nvSpPr>
        <p:spPr>
          <a:xfrm>
            <a:off x="9098280" y="45262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audit flags raised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446520" y="55778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948"/>
                </a:solidFill>
              </a:rPr>
              <a:t>Committed database: 6 tables in one SQLite file, shipped with the repo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architecture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One Next.js app, one SQLite file</a:t>
            </a:r>
            <a:endParaRPr lang="en-US" sz="3200" dirty="0"/>
          </a:p>
        </p:txBody>
      </p:sp>
      <p:sp>
        <p:nvSpPr>
          <p:cNvPr id="4" name="node Browser · React 19"/>
          <p:cNvSpPr txBox="1"/>
          <p:nvPr/>
        </p:nvSpPr>
        <p:spPr>
          <a:xfrm>
            <a:off x="548640" y="1600200"/>
            <a:ext cx="7589520" cy="566928"/>
          </a:xfrm>
          <a:prstGeom prst="roundRect">
            <a:avLst>
              <a:gd name="adj" fmla="val 12903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Browser · React 19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six pages · one detail + compare dialog · TanStack Query cache</a:t>
            </a:r>
            <a:endParaRPr lang="en-US" sz="1300" dirty="0"/>
          </a:p>
        </p:txBody>
      </p:sp>
      <p:sp>
        <p:nvSpPr>
          <p:cNvPr id="5" name="server group"/>
          <p:cNvSpPr/>
          <p:nvPr/>
        </p:nvSpPr>
        <p:spPr>
          <a:xfrm>
            <a:off x="548640" y="2450592"/>
            <a:ext cx="75895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394960" y="248716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6B5948"/>
                </a:solidFill>
              </a:rPr>
              <a:t>Next.js 16 server (Node.js)</a:t>
            </a:r>
            <a:endParaRPr lang="en-US" sz="1000" dirty="0"/>
          </a:p>
        </p:txBody>
      </p:sp>
      <p:sp>
        <p:nvSpPr>
          <p:cNvPr id="7" name="node Server render"/>
          <p:cNvSpPr txBox="1"/>
          <p:nvPr/>
        </p:nvSpPr>
        <p:spPr>
          <a:xfrm>
            <a:off x="731520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Server render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page.tsx: URL → state</a:t>
            </a:r>
            <a:endParaRPr lang="en-US" sz="1300" dirty="0"/>
          </a:p>
        </p:txBody>
      </p:sp>
      <p:sp>
        <p:nvSpPr>
          <p:cNvPr id="8" name="node tRPC router"/>
          <p:cNvSpPr txBox="1"/>
          <p:nvPr/>
        </p:nvSpPr>
        <p:spPr>
          <a:xfrm>
            <a:off x="3218688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tRPC 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17 procedures · Zod</a:t>
            </a:r>
            <a:endParaRPr lang="en-US" sz="1300" dirty="0"/>
          </a:p>
        </p:txBody>
      </p:sp>
      <p:sp>
        <p:nvSpPr>
          <p:cNvPr id="9" name="node Route handlers"/>
          <p:cNvSpPr txBox="1"/>
          <p:nvPr/>
        </p:nvSpPr>
        <p:spPr>
          <a:xfrm>
            <a:off x="5705856" y="2788920"/>
            <a:ext cx="2240280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Route handlers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/api/upload · /api/export</a:t>
            </a:r>
            <a:endParaRPr lang="en-US" sz="1300" dirty="0"/>
          </a:p>
        </p:txBody>
      </p:sp>
      <p:sp>
        <p:nvSpPr>
          <p:cNvPr id="10" name="node Server modules"/>
          <p:cNvSpPr txBox="1"/>
          <p:nvPr/>
        </p:nvSpPr>
        <p:spPr>
          <a:xfrm>
            <a:off x="731520" y="3840480"/>
            <a:ext cx="7214616" cy="713232"/>
          </a:xfrm>
          <a:prstGeom prst="roundRect">
            <a:avLst>
              <a:gd name="adj" fmla="val 10256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Server modules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query builders (filters · ranking · paging) · CAMPD client · ingest.ts write path</a:t>
            </a:r>
            <a:endParaRPr lang="en-US" sz="1300" dirty="0"/>
          </a:p>
        </p:txBody>
      </p:sp>
      <p:sp>
        <p:nvSpPr>
          <p:cNvPr id="11" name="node Python 3"/>
          <p:cNvSpPr txBox="1"/>
          <p:nvPr/>
        </p:nvSpPr>
        <p:spPr>
          <a:xfrm>
            <a:off x="731520" y="4937760"/>
            <a:ext cx="2103120" cy="658368"/>
          </a:xfrm>
          <a:prstGeom prst="roundRect">
            <a:avLst>
              <a:gd name="adj" fmla="val 11111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Python 3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parse_import.py</a:t>
            </a:r>
            <a:endParaRPr lang="en-US" sz="1300" dirty="0"/>
          </a:p>
        </p:txBody>
      </p:sp>
      <p:sp>
        <p:nvSpPr>
          <p:cNvPr id="12" name="node Drizzle ORM"/>
          <p:cNvSpPr txBox="1"/>
          <p:nvPr/>
        </p:nvSpPr>
        <p:spPr>
          <a:xfrm>
            <a:off x="3291840" y="48920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Drizzle ORM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SQL builder · migrations</a:t>
            </a:r>
            <a:endParaRPr lang="en-US" sz="1300" dirty="0"/>
          </a:p>
        </p:txBody>
      </p:sp>
      <p:sp>
        <p:nvSpPr>
          <p:cNvPr id="13" name="node SQLite · db.sqlite"/>
          <p:cNvSpPr txBox="1"/>
          <p:nvPr/>
        </p:nvSpPr>
        <p:spPr>
          <a:xfrm>
            <a:off x="3291840" y="555955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FAF6F0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SQLite · db.sqlite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6 tables</a:t>
            </a:r>
            <a:endParaRPr lang="en-US" sz="1300" dirty="0"/>
          </a:p>
        </p:txBody>
      </p:sp>
      <p:sp>
        <p:nvSpPr>
          <p:cNvPr id="14" name="node EPA CAM API"/>
          <p:cNvSpPr txBox="1"/>
          <p:nvPr/>
        </p:nvSpPr>
        <p:spPr>
          <a:xfrm>
            <a:off x="5852160" y="4892040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EPA CAM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HTTPS + key</a:t>
            </a:r>
            <a:endParaRPr lang="en-US" sz="1300" dirty="0"/>
          </a:p>
        </p:txBody>
      </p:sp>
      <p:sp>
        <p:nvSpPr>
          <p:cNvPr id="15" name="node OpenRouter"/>
          <p:cNvSpPr txBox="1"/>
          <p:nvPr/>
        </p:nvSpPr>
        <p:spPr>
          <a:xfrm>
            <a:off x="5852160" y="5559552"/>
            <a:ext cx="2103120" cy="548640"/>
          </a:xfrm>
          <a:prstGeom prst="roundRect">
            <a:avLst>
              <a:gd name="adj" fmla="val 13333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OpenRouter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optional LLM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851660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338828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25996" y="2167128"/>
            <a:ext cx="0" cy="62179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19" name="Text 17"/>
          <p:cNvSpPr txBox="1"/>
          <p:nvPr/>
        </p:nvSpPr>
        <p:spPr>
          <a:xfrm>
            <a:off x="1920240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HTML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4407408" y="22128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JSON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894576" y="221284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file / CSV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851660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38828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825996" y="350215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4553712"/>
            <a:ext cx="0" cy="38404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43400" y="455371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4343400" y="5440680"/>
            <a:ext cx="0" cy="11887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03720" y="4553712"/>
            <a:ext cx="0" cy="33832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headEnd type="triangle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8458200" y="1645920"/>
            <a:ext cx="320040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Server-rendered first page,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then typed tRPC calls.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One write path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API retrievals, uploads, and the CLI sync.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Pure logic in src/lib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is unit-tested without a database.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parser · record diff · CSV writer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Keys stay server-side.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 browser never calls EPA or OpenRouter.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data flow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Two ways in, one write path, approval first</a:t>
            </a:r>
            <a:endParaRPr lang="en-US" sz="3200" dirty="0"/>
          </a:p>
        </p:txBody>
      </p:sp>
      <p:sp>
        <p:nvSpPr>
          <p:cNvPr id="4" name="node EPA CAM API"/>
          <p:cNvSpPr txBox="1"/>
          <p:nvPr/>
        </p:nvSpPr>
        <p:spPr>
          <a:xfrm>
            <a:off x="548640" y="1783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EPA CAM API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/annual</a:t>
            </a:r>
            <a:endParaRPr lang="en-US" sz="1300" dirty="0"/>
          </a:p>
        </p:txBody>
      </p:sp>
      <p:sp>
        <p:nvSpPr>
          <p:cNvPr id="5" name="node CSV / Excel"/>
          <p:cNvSpPr txBox="1"/>
          <p:nvPr/>
        </p:nvSpPr>
        <p:spPr>
          <a:xfrm>
            <a:off x="548640" y="292608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EFE6DA"/>
          </a:solidFill>
          <a:ln w="12700">
            <a:solidFill>
              <a:srgbClr val="6B5948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CSV / Excel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CAMPD layout</a:t>
            </a:r>
            <a:endParaRPr lang="en-US" sz="1300" dirty="0"/>
          </a:p>
        </p:txBody>
      </p:sp>
      <p:sp>
        <p:nvSpPr>
          <p:cNvPr id="6" name="node Fetch &amp; validate"/>
          <p:cNvSpPr txBox="1"/>
          <p:nvPr/>
        </p:nvSpPr>
        <p:spPr>
          <a:xfrm>
            <a:off x="2606040" y="1783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Fetch &amp; validate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Zod · dedupe pages</a:t>
            </a:r>
            <a:endParaRPr lang="en-US" sz="1300" dirty="0"/>
          </a:p>
        </p:txBody>
      </p:sp>
      <p:sp>
        <p:nvSpPr>
          <p:cNvPr id="7" name="node Python parser"/>
          <p:cNvSpPr txBox="1"/>
          <p:nvPr/>
        </p:nvSpPr>
        <p:spPr>
          <a:xfrm>
            <a:off x="2606040" y="2926080"/>
            <a:ext cx="2011680" cy="685800"/>
          </a:xfrm>
          <a:prstGeom prst="roundRect">
            <a:avLst>
              <a:gd name="adj" fmla="val 10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Python parser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map · validate · dedupe</a:t>
            </a:r>
            <a:endParaRPr lang="en-US" sz="1300" dirty="0"/>
          </a:p>
        </p:txBody>
      </p:sp>
      <p:sp>
        <p:nvSpPr>
          <p:cNvPr id="8" name="node Compare"/>
          <p:cNvSpPr txBox="1"/>
          <p:nvPr/>
        </p:nvSpPr>
        <p:spPr>
          <a:xfrm>
            <a:off x="5074920" y="1828800"/>
            <a:ext cx="1965960" cy="1737360"/>
          </a:xfrm>
          <a:prstGeom prst="roundRect">
            <a:avLst>
              <a:gd name="adj" fmla="val 4211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Compare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with stored records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new · changed · unchanged</a:t>
            </a:r>
            <a:endParaRPr lang="en-US" sz="1300" dirty="0"/>
          </a:p>
        </p:txBody>
      </p:sp>
      <p:sp>
        <p:nvSpPr>
          <p:cNvPr id="9" name="node User approves"/>
          <p:cNvSpPr txBox="1"/>
          <p:nvPr/>
        </p:nvSpPr>
        <p:spPr>
          <a:xfrm>
            <a:off x="7452360" y="2286000"/>
            <a:ext cx="1371600" cy="822960"/>
          </a:xfrm>
          <a:prstGeom prst="roundRect">
            <a:avLst>
              <a:gd name="adj" fmla="val 8889"/>
            </a:avLst>
          </a:prstGeom>
          <a:solidFill>
            <a:srgbClr val="1D4ED8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User approves</a:t>
            </a:r>
            <a:endParaRPr lang="en-US" sz="1300" dirty="0"/>
          </a:p>
        </p:txBody>
      </p:sp>
      <p:sp>
        <p:nvSpPr>
          <p:cNvPr id="10" name="node Shared write path"/>
          <p:cNvSpPr txBox="1"/>
          <p:nvPr/>
        </p:nvSpPr>
        <p:spPr>
          <a:xfrm>
            <a:off x="9235440" y="2148840"/>
            <a:ext cx="2404872" cy="1097280"/>
          </a:xfrm>
          <a:prstGeom prst="roundRect">
            <a:avLst>
              <a:gd name="adj" fmla="val 6667"/>
            </a:avLst>
          </a:prstGeom>
          <a:solidFill>
            <a:srgbClr val="FAF6F0"/>
          </a:solidFill>
          <a:ln w="12700">
            <a:solidFill>
              <a:srgbClr val="D3C2AD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Shared write path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upsert · derive rates · sanity audits · one transaction</a:t>
            </a:r>
            <a:endParaRPr lang="en-US" sz="1300" dirty="0"/>
          </a:p>
        </p:txBody>
      </p:sp>
      <p:sp>
        <p:nvSpPr>
          <p:cNvPr id="11" name="node SQLite"/>
          <p:cNvSpPr txBox="1"/>
          <p:nvPr/>
        </p:nvSpPr>
        <p:spPr>
          <a:xfrm>
            <a:off x="9235440" y="3977640"/>
            <a:ext cx="2404872" cy="731520"/>
          </a:xfrm>
          <a:prstGeom prst="roundRect">
            <a:avLst>
              <a:gd name="adj" fmla="val 10000"/>
            </a:avLst>
          </a:prstGeom>
          <a:solidFill>
            <a:srgbClr val="FAF6F0"/>
          </a:solidFill>
          <a:ln w="12700">
            <a:solidFill>
              <a:srgbClr val="1D4ED8"/>
            </a:solidFill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SQLite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+ datasets row (provenance)</a:t>
            </a:r>
            <a:endParaRPr lang="en-US" sz="1300" dirty="0"/>
          </a:p>
        </p:txBody>
      </p:sp>
      <p:sp>
        <p:nvSpPr>
          <p:cNvPr id="12" name="node import_issues"/>
          <p:cNvSpPr txBox="1"/>
          <p:nvPr/>
        </p:nvSpPr>
        <p:spPr>
          <a:xfrm>
            <a:off x="5074920" y="3977640"/>
            <a:ext cx="1965960" cy="731520"/>
          </a:xfrm>
          <a:prstGeom prst="roundRect">
            <a:avLst>
              <a:gd name="adj" fmla="val 10000"/>
            </a:avLst>
          </a:prstGeom>
          <a:solidFill>
            <a:srgbClr val="FAF6F0"/>
          </a:solidFill>
          <a:ln w="12700">
            <a:solidFill>
              <a:srgbClr val="B45309"/>
            </a:solidFill>
            <a:prstDash val="dash"/>
          </a:ln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</a:rPr>
              <a:t>import_issues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6B5948"/>
                </a:solidFill>
              </a:rPr>
              <a:t>rejected · duplicate rows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286000" y="2125980"/>
            <a:ext cx="3200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2286000" y="3268980"/>
            <a:ext cx="3200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4617720" y="2125980"/>
            <a:ext cx="45720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617720" y="3268980"/>
            <a:ext cx="45720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040880" y="2697480"/>
            <a:ext cx="41148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18" name="Text 16"/>
          <p:cNvSpPr txBox="1"/>
          <p:nvPr/>
        </p:nvSpPr>
        <p:spPr>
          <a:xfrm>
            <a:off x="6903720" y="239572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preview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823960" y="2697480"/>
            <a:ext cx="41148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10437876" y="3246120"/>
            <a:ext cx="0" cy="73152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057900" y="3566160"/>
            <a:ext cx="0" cy="411480"/>
          </a:xfrm>
          <a:prstGeom prst="line">
            <a:avLst/>
          </a:prstGeom>
          <a:noFill/>
          <a:ln w="15875">
            <a:solidFill>
              <a:srgbClr val="6B5948"/>
            </a:solidFill>
            <a:prstDash val="dash"/>
            <a:tailEnd type="triangle"/>
          </a:ln>
        </p:spPr>
      </p:sp>
      <p:sp>
        <p:nvSpPr>
          <p:cNvPr id="22" name="Text 20"/>
          <p:cNvSpPr txBox="1"/>
          <p:nvPr/>
        </p:nvSpPr>
        <p:spPr>
          <a:xfrm>
            <a:off x="6144768" y="3639312"/>
            <a:ext cx="1463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saved on approval</a:t>
            </a:r>
            <a:endParaRPr lang="en-US" sz="950" dirty="0"/>
          </a:p>
        </p:txBody>
      </p:sp>
      <p:sp>
        <p:nvSpPr>
          <p:cNvPr id="23" name="reads local db"/>
          <p:cNvSpPr/>
          <p:nvPr/>
        </p:nvSpPr>
        <p:spPr>
          <a:xfrm>
            <a:off x="548640" y="4983480"/>
            <a:ext cx="5440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4" name="calls live api"/>
          <p:cNvSpPr/>
          <p:nvPr/>
        </p:nvSpPr>
        <p:spPr>
          <a:xfrm>
            <a:off x="6199632" y="4983480"/>
            <a:ext cx="5440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5166360"/>
            <a:ext cx="1419149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3A2C"/>
                </a:solidFill>
              </a:rPr>
              <a:t>Local database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199632" y="5166360"/>
            <a:ext cx="1258214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0369A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369A1"/>
                </a:solidFill>
              </a:rPr>
              <a:t>Live EPA API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55504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Explore, Map, the detail dialog, compare, audit flags, and every download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199632" y="5550408"/>
            <a:ext cx="5257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Retrieve (preview + save) and the granular hourly-to-monthly time series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database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Six tables follow the shape of the data</a:t>
            </a:r>
            <a:endParaRPr lang="en-US" sz="3200" dirty="0"/>
          </a:p>
        </p:txBody>
      </p:sp>
      <p:sp>
        <p:nvSpPr>
          <p:cNvPr id="4" name="table facilities"/>
          <p:cNvSpPr/>
          <p:nvPr/>
        </p:nvSpPr>
        <p:spPr>
          <a:xfrm>
            <a:off x="548640" y="1600200"/>
            <a:ext cx="2331720" cy="1371600"/>
          </a:xfrm>
          <a:prstGeom prst="roundRect">
            <a:avLst>
              <a:gd name="adj" fmla="val 40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0020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828800"/>
            <a:ext cx="231343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6002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facilities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039112"/>
            <a:ext cx="210312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(EPA ORISPL)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name, state_code, county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latitude, longitude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owner_operator, region</a:t>
            </a:r>
            <a:endParaRPr lang="en-US" sz="1000" dirty="0"/>
          </a:p>
        </p:txBody>
      </p:sp>
      <p:sp>
        <p:nvSpPr>
          <p:cNvPr id="9" name="table units"/>
          <p:cNvSpPr/>
          <p:nvPr/>
        </p:nvSpPr>
        <p:spPr>
          <a:xfrm>
            <a:off x="548640" y="3611880"/>
            <a:ext cx="2331720" cy="1595628"/>
          </a:xfrm>
          <a:prstGeom prst="roundRect">
            <a:avLst>
              <a:gd name="adj" fmla="val 3438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3611880"/>
            <a:ext cx="233172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" y="3840480"/>
            <a:ext cx="231343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361188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050792"/>
            <a:ext cx="210312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(UUID)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facility_id → facilities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unit_id  UNIQUE/facility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unit_type, primary_fuel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operating_status, MW</a:t>
            </a:r>
            <a:endParaRPr lang="en-US" sz="1000" dirty="0"/>
          </a:p>
        </p:txBody>
      </p:sp>
      <p:sp>
        <p:nvSpPr>
          <p:cNvPr id="14" name="table annual_records"/>
          <p:cNvSpPr/>
          <p:nvPr/>
        </p:nvSpPr>
        <p:spPr>
          <a:xfrm>
            <a:off x="3429000" y="1600200"/>
            <a:ext cx="2606040" cy="2267712"/>
          </a:xfrm>
          <a:prstGeom prst="roundRect">
            <a:avLst>
              <a:gd name="adj" fmla="val 2419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429000" y="16002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438144" y="1828800"/>
            <a:ext cx="258775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566160" y="16002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annual_records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566160" y="2039112"/>
            <a:ext cx="2377440" cy="1792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= unit + year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unit_internal_id → units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facility_id → facilities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dataset_id → datasets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  UNIQUE(unit, year)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co2/so2/nox_mass_tons  NULL ok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heat_input, gross_load, hours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so2/nox/pm/hg_controls</a:t>
            </a:r>
            <a:endParaRPr lang="en-US" sz="1000" dirty="0"/>
          </a:p>
        </p:txBody>
      </p:sp>
      <p:sp>
        <p:nvSpPr>
          <p:cNvPr id="19" name="table data_audit_logs"/>
          <p:cNvSpPr/>
          <p:nvPr/>
        </p:nvSpPr>
        <p:spPr>
          <a:xfrm>
            <a:off x="3429000" y="4343400"/>
            <a:ext cx="2606040" cy="923544"/>
          </a:xfrm>
          <a:prstGeom prst="roundRect">
            <a:avLst>
              <a:gd name="adj" fmla="val 5941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429000" y="43434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38144" y="4572000"/>
            <a:ext cx="258775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566160" y="434340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data_audit_logs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566160" y="4782312"/>
            <a:ext cx="237744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annual_record_id → records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flag_type, severity</a:t>
            </a:r>
            <a:endParaRPr lang="en-US" sz="1000" dirty="0"/>
          </a:p>
        </p:txBody>
      </p:sp>
      <p:sp>
        <p:nvSpPr>
          <p:cNvPr id="24" name="table datasets"/>
          <p:cNvSpPr/>
          <p:nvPr/>
        </p:nvSpPr>
        <p:spPr>
          <a:xfrm>
            <a:off x="6583680" y="1600200"/>
            <a:ext cx="2240280" cy="1595628"/>
          </a:xfrm>
          <a:prstGeom prst="roundRect">
            <a:avLst>
              <a:gd name="adj" fmla="val 3438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3680" y="16002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92824" y="1828800"/>
            <a:ext cx="222199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20840" y="16002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datasets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6720840" y="2039112"/>
            <a:ext cx="2011680" cy="1120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 (UUID)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source  API | CSV | EXCEL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query_params (JSON)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new / updated /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unchanged / dropped</a:t>
            </a:r>
            <a:endParaRPr lang="en-US" sz="1000" dirty="0"/>
          </a:p>
        </p:txBody>
      </p:sp>
      <p:sp>
        <p:nvSpPr>
          <p:cNvPr id="29" name="table import_issues"/>
          <p:cNvSpPr/>
          <p:nvPr/>
        </p:nvSpPr>
        <p:spPr>
          <a:xfrm>
            <a:off x="6583680" y="3657600"/>
            <a:ext cx="2240280" cy="1147572"/>
          </a:xfrm>
          <a:prstGeom prst="roundRect">
            <a:avLst>
              <a:gd name="adj" fmla="val 4781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83680" y="3657600"/>
            <a:ext cx="2240280" cy="384048"/>
          </a:xfrm>
          <a:prstGeom prst="roundRect">
            <a:avLst>
              <a:gd name="adj" fmla="val 14286"/>
            </a:avLst>
          </a:prstGeom>
          <a:solidFill>
            <a:srgbClr val="E5D9C9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92824" y="3886200"/>
            <a:ext cx="2221992" cy="155448"/>
          </a:xfrm>
          <a:prstGeom prst="rect">
            <a:avLst/>
          </a:prstGeom>
          <a:solidFill>
            <a:srgbClr val="E5D9C9"/>
          </a:solidFill>
          <a:ln w="12700">
            <a:solidFill>
              <a:srgbClr val="E5D9C9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20840" y="365760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import_issues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6720840" y="4096512"/>
            <a:ext cx="2011680" cy="6720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dataset_id → datasets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kind  REJECTED|DUPLICATE</a:t>
            </a:r>
            <a:endParaRPr lang="en-US" sz="1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4A3A2C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reason, raw_row (JSON)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714500" y="2971800"/>
            <a:ext cx="0" cy="64008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792224" y="299923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792224" y="340156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880360" y="2103120"/>
            <a:ext cx="5486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292608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324612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2880360" y="4206240"/>
            <a:ext cx="27432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154680" y="3474720"/>
            <a:ext cx="0" cy="73152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154680" y="3474720"/>
            <a:ext cx="27432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2926080" y="398678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3246120" y="32552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732020" y="3867912"/>
            <a:ext cx="0" cy="475488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809744" y="389534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4809744" y="41330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035040" y="2103120"/>
            <a:ext cx="548640" cy="0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6080760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50" name="Text 48"/>
          <p:cNvSpPr txBox="1"/>
          <p:nvPr/>
        </p:nvSpPr>
        <p:spPr>
          <a:xfrm>
            <a:off x="6419088" y="1883664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703820" y="3195828"/>
            <a:ext cx="0" cy="461772"/>
          </a:xfrm>
          <a:prstGeom prst="line">
            <a:avLst/>
          </a:prstGeom>
          <a:noFill/>
          <a:ln w="15875">
            <a:solidFill>
              <a:srgbClr val="6B5948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781544" y="32186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1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7781544" y="3447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1F16"/>
                </a:solidFill>
              </a:rPr>
              <a:t>N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548640" y="5897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4ED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id </a:t>
            </a:r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 key   </a:t>
            </a:r>
            <a:pPr indent="0" marL="0">
              <a:buNone/>
            </a:pPr>
            <a:r>
              <a:rPr lang="en-US" sz="1000" dirty="0">
                <a:solidFill>
                  <a:srgbClr val="0369A1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</a:t>
            </a:r>
            <a:pPr indent="0" marL="0">
              <a:buNone/>
            </a:pPr>
            <a:r>
              <a:rPr lang="en-US" sz="1000" dirty="0">
                <a:solidFill>
                  <a:srgbClr val="6B594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foreign key, cascades on delete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9098280" y="1645920"/>
            <a:ext cx="25603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Natural keys are enforced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by the database.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re-import = update, never a duplicate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NULL ≠ 0.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Not reported is stored as missing.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Controls per year,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as the spec requires.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16,650 unit-years differ from today's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12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14 indexes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match real queries.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ranking: 9.5 s → 22 ms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System design · choices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Implementation choices and why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We chose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443484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Instead of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040880" y="1645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Why</a:t>
            </a:r>
            <a:endParaRPr lang="en-US" sz="1200" dirty="0"/>
          </a:p>
        </p:txBody>
      </p:sp>
      <p:sp>
        <p:nvSpPr>
          <p:cNvPr id="7" name="choice Next.js + tRPC + Drizzle"/>
          <p:cNvSpPr/>
          <p:nvPr/>
        </p:nvSpPr>
        <p:spPr>
          <a:xfrm>
            <a:off x="548640" y="202996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234440" y="202996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Next.js + tRPC + Drizzle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02996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Flask + Jinja + SQLAlchemy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7040880" y="202996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One typed codebase; Zod-validated inputs; same routes, templates, forms, ORM</a:t>
            </a:r>
            <a:endParaRPr lang="en-US" sz="1400" dirty="0"/>
          </a:p>
        </p:txBody>
      </p:sp>
      <p:sp>
        <p:nvSpPr>
          <p:cNvPr id="11" name="choice SQLite, one file"/>
          <p:cNvSpPr/>
          <p:nvPr/>
        </p:nvSpPr>
        <p:spPr>
          <a:xfrm>
            <a:off x="548640" y="285292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234440" y="285292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SQLite, one file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4434840" y="285292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A database server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285292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Ships in the zip; window functions for ranking; reproducible</a:t>
            </a:r>
            <a:endParaRPr lang="en-US" sz="1400" dirty="0"/>
          </a:p>
        </p:txBody>
      </p:sp>
      <p:sp>
        <p:nvSpPr>
          <p:cNvPr id="15" name="choice Python parser subprocess"/>
          <p:cNvSpPr/>
          <p:nvPr/>
        </p:nvSpPr>
        <p:spPr>
          <a:xfrm>
            <a:off x="548640" y="367588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34440" y="367588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Python parser subprocess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4434840" y="367588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JS CSV libraries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67588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csv + openpyxl read CSV and Excel alike; returns a JSON report</a:t>
            </a:r>
            <a:endParaRPr lang="en-US" sz="1400" dirty="0"/>
          </a:p>
        </p:txBody>
      </p:sp>
      <p:sp>
        <p:nvSpPr>
          <p:cNvPr id="19" name="choice Rule-based description parser"/>
          <p:cNvSpPr/>
          <p:nvPr/>
        </p:nvSpPr>
        <p:spPr>
          <a:xfrm>
            <a:off x="548640" y="449884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234440" y="449884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Rule-based description parser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434840" y="449884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LLM only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040880" y="449884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Deterministic, offline, unit-tested; LLM only for leftover words</a:t>
            </a:r>
            <a:endParaRPr lang="en-US" sz="1400" dirty="0"/>
          </a:p>
        </p:txBody>
      </p:sp>
      <p:sp>
        <p:nvSpPr>
          <p:cNvPr id="23" name="choice Preview, then save"/>
          <p:cNvSpPr/>
          <p:nvPr/>
        </p:nvSpPr>
        <p:spPr>
          <a:xfrm>
            <a:off x="548640" y="5321808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234440" y="5321808"/>
            <a:ext cx="31089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Preview, then save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4434840" y="5321808"/>
            <a:ext cx="2468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5948"/>
                </a:solidFill>
              </a:rPr>
              <a:t>Write on fetch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5321808"/>
            <a:ext cx="4526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User sees new / changed first; one transaction per import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Live demo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Ten steps, one story</a:t>
            </a:r>
            <a:endParaRPr lang="en-US" sz="3200" dirty="0"/>
          </a:p>
        </p:txBody>
      </p:sp>
      <p:sp>
        <p:nvSpPr>
          <p:cNvPr id="4" name="step 1"/>
          <p:cNvSpPr/>
          <p:nvPr/>
        </p:nvSpPr>
        <p:spPr>
          <a:xfrm>
            <a:off x="548640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Home page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Interface · data source</a:t>
            </a:r>
            <a:endParaRPr lang="en-US" sz="1150" dirty="0"/>
          </a:p>
        </p:txBody>
      </p:sp>
      <p:sp>
        <p:nvSpPr>
          <p:cNvPr id="9" name="step 2"/>
          <p:cNvSpPr/>
          <p:nvPr/>
        </p:nvSpPr>
        <p:spPr>
          <a:xfrm>
            <a:off x="2795321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95321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795321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2795321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Upload a file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795321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Upload &amp; import</a:t>
            </a:r>
            <a:endParaRPr lang="en-US" sz="1150" dirty="0"/>
          </a:p>
        </p:txBody>
      </p:sp>
      <p:sp>
        <p:nvSpPr>
          <p:cNvPr id="14" name="step 3"/>
          <p:cNvSpPr/>
          <p:nvPr/>
        </p:nvSpPr>
        <p:spPr>
          <a:xfrm>
            <a:off x="5042002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42002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04200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042002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Retrieve (API)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042002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EPA data retrieval</a:t>
            </a:r>
            <a:endParaRPr lang="en-US" sz="1150" dirty="0"/>
          </a:p>
        </p:txBody>
      </p:sp>
      <p:sp>
        <p:nvSpPr>
          <p:cNvPr id="19" name="step 4"/>
          <p:cNvSpPr/>
          <p:nvPr/>
        </p:nvSpPr>
        <p:spPr>
          <a:xfrm>
            <a:off x="7288682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88682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288682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7288682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Basic search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7288682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Basic search</a:t>
            </a:r>
            <a:endParaRPr lang="en-US" sz="1150" dirty="0"/>
          </a:p>
        </p:txBody>
      </p:sp>
      <p:sp>
        <p:nvSpPr>
          <p:cNvPr id="24" name="step 5"/>
          <p:cNvSpPr/>
          <p:nvPr/>
        </p:nvSpPr>
        <p:spPr>
          <a:xfrm>
            <a:off x="9535363" y="1645920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35363" y="1828800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535363" y="1828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535363" y="2340864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Multi-constraint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9535363" y="2688336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Multi-constraint search</a:t>
            </a:r>
            <a:endParaRPr lang="en-US" sz="1150" dirty="0"/>
          </a:p>
        </p:txBody>
      </p:sp>
      <p:sp>
        <p:nvSpPr>
          <p:cNvPr id="29" name="step 6"/>
          <p:cNvSpPr/>
          <p:nvPr/>
        </p:nvSpPr>
        <p:spPr>
          <a:xfrm>
            <a:off x="548640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48640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48640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48640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Description search</a:t>
            </a:r>
            <a:endParaRPr lang="en-US" sz="15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Description search</a:t>
            </a:r>
            <a:endParaRPr lang="en-US" sz="1150" dirty="0"/>
          </a:p>
        </p:txBody>
      </p:sp>
      <p:sp>
        <p:nvSpPr>
          <p:cNvPr id="34" name="step 7"/>
          <p:cNvSpPr/>
          <p:nvPr/>
        </p:nvSpPr>
        <p:spPr>
          <a:xfrm>
            <a:off x="2795321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2795321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795321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7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2795321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Ranking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2795321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Sorting / ranking</a:t>
            </a:r>
            <a:endParaRPr lang="en-US" sz="1150" dirty="0"/>
          </a:p>
        </p:txBody>
      </p:sp>
      <p:sp>
        <p:nvSpPr>
          <p:cNvPr id="39" name="step 8"/>
          <p:cNvSpPr/>
          <p:nvPr/>
        </p:nvSpPr>
        <p:spPr>
          <a:xfrm>
            <a:off x="5042002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42002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04200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8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5042002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Unit history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5042002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Detail page · history</a:t>
            </a:r>
            <a:endParaRPr lang="en-US" sz="1150" dirty="0"/>
          </a:p>
        </p:txBody>
      </p:sp>
      <p:sp>
        <p:nvSpPr>
          <p:cNvPr id="44" name="step 9"/>
          <p:cNvSpPr/>
          <p:nvPr/>
        </p:nvSpPr>
        <p:spPr>
          <a:xfrm>
            <a:off x="7288682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288682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7288682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9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7288682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Compare</a:t>
            </a:r>
            <a:endParaRPr lang="en-US" sz="1500" dirty="0"/>
          </a:p>
        </p:txBody>
      </p:sp>
      <p:sp>
        <p:nvSpPr>
          <p:cNvPr id="48" name="Text 46"/>
          <p:cNvSpPr txBox="1"/>
          <p:nvPr/>
        </p:nvSpPr>
        <p:spPr>
          <a:xfrm>
            <a:off x="7288682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Usability</a:t>
            </a:r>
            <a:endParaRPr lang="en-US" sz="1150" dirty="0"/>
          </a:p>
        </p:txBody>
      </p:sp>
      <p:sp>
        <p:nvSpPr>
          <p:cNvPr id="49" name="step 10"/>
          <p:cNvSpPr/>
          <p:nvPr/>
        </p:nvSpPr>
        <p:spPr>
          <a:xfrm>
            <a:off x="9535363" y="3355848"/>
            <a:ext cx="210312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9535363" y="3538728"/>
            <a:ext cx="402336" cy="402336"/>
          </a:xfrm>
          <a:prstGeom prst="ellipse">
            <a:avLst/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9535363" y="35387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9535363" y="4050792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Download</a:t>
            </a:r>
            <a:endParaRPr lang="en-US" sz="1500" dirty="0"/>
          </a:p>
        </p:txBody>
      </p:sp>
      <p:sp>
        <p:nvSpPr>
          <p:cNvPr id="53" name="Text 51"/>
          <p:cNvSpPr txBox="1"/>
          <p:nvPr/>
        </p:nvSpPr>
        <p:spPr>
          <a:xfrm>
            <a:off x="9535363" y="4398264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B5948"/>
                </a:solidFill>
              </a:rPr>
              <a:t>Download</a:t>
            </a:r>
            <a:endParaRPr lang="en-US" sz="1150" dirty="0"/>
          </a:p>
        </p:txBody>
      </p:sp>
      <p:sp>
        <p:nvSpPr>
          <p:cNvPr id="54" name="story callout"/>
          <p:cNvSpPr/>
          <p:nvPr/>
        </p:nvSpPr>
        <p:spPr>
          <a:xfrm>
            <a:off x="548640" y="5120640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548640" y="51206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The thread: </a:t>
            </a:r>
            <a:pPr indent="0" marL="0">
              <a:buNone/>
            </a:pPr>
            <a:r>
              <a:rPr lang="en-US" sz="1500" dirty="0">
                <a:solidFill>
                  <a:srgbClr val="4A3A2C"/>
                </a:solidFill>
              </a:rPr>
              <a:t>step 2's upload edits one Trimble County CO₂ value; step 3's Retrieve flags it as Changed against the EPA API and restores EPA's number.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1 of 10 · rubric 1 ·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Home page: what it is and where data comes from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Plain introduction: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purpose, sources, Phase 2 scope.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CAMPD API + CSV / Excel uploads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TRACI scoring comes in Phase 2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Coverage chart by year,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2015–2026.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12 active datasets, 18 superseded (kept as history)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1,619 · 5,204 · 6,909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facilities, units, audit flags.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Every panel names its source.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browse = local DB · Retrieve = live API</a:t>
            </a:r>
            <a:endParaRPr lang="en-US" sz="1500" dirty="0"/>
          </a:p>
        </p:txBody>
      </p:sp>
      <p:sp>
        <p:nvSpPr>
          <p:cNvPr id="5" name="Home page screenshot frame"/>
          <p:cNvSpPr/>
          <p:nvPr/>
        </p:nvSpPr>
        <p:spPr>
          <a:xfrm>
            <a:off x="4709160" y="1645920"/>
            <a:ext cx="6931152" cy="4379976"/>
          </a:xfrm>
          <a:prstGeom prst="roundRect">
            <a:avLst>
              <a:gd name="adj" fmla="val 1253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Home page screenshot" descr="Home page screensho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42519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2 of 10 · rubric 3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Upload: validate first, then import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25 rows →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21 valid · 3 rejected · 1 duplicate · 1 flag.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Compared with the DB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before saving.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19 new · 1 changed · 1 unchanged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Every rejection has a reason.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row 12 no unit ID · row 18 “KZ” · row 19 CO₂ &lt; 0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Missing ≠ zero.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Row 16 has heat input, no CO₂.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stored as NULL, flagged CO2_NOT_REPORTED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Nothing dropped silently.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Download rejected rows (4)</a:t>
            </a:r>
            <a:endParaRPr lang="en-US" sz="1500" dirty="0"/>
          </a:p>
        </p:txBody>
      </p:sp>
      <p:sp>
        <p:nvSpPr>
          <p:cNvPr id="5" name="Upload data-quality report frame"/>
          <p:cNvSpPr/>
          <p:nvPr/>
        </p:nvSpPr>
        <p:spPr>
          <a:xfrm>
            <a:off x="4709160" y="1645920"/>
            <a:ext cx="6931152" cy="3792931"/>
          </a:xfrm>
          <a:prstGeom prst="roundRect">
            <a:avLst>
              <a:gd name="adj" fmla="val 1446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Upload data-quality report" descr="Upload data-quality repor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366491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3 of 10 · rubric 2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Retrieve: compare with the EPA API before saving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Method on screen: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EPA CAM API, /annual.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key stays on the server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Already in the DB: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8 unit-years for 2023.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2 from our upload · 6 from the API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Preview writes nothing.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8 received · 0 new · 1 changed · 7 unchanged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Changed shows DB → API: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Trimble 2 CO₂ 4,098,943.86 → 4,099,943.86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9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Approve → history row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0 / 1 / 7 / 0.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new / updated / unchanged / dropped</a:t>
            </a:r>
            <a:endParaRPr lang="en-US" sz="1500" dirty="0"/>
          </a:p>
        </p:txBody>
      </p:sp>
      <p:sp>
        <p:nvSpPr>
          <p:cNvPr id="5" name="Retrieve preview frame"/>
          <p:cNvSpPr/>
          <p:nvPr/>
        </p:nvSpPr>
        <p:spPr>
          <a:xfrm>
            <a:off x="4709160" y="1645920"/>
            <a:ext cx="6931152" cy="4517136"/>
          </a:xfrm>
          <a:prstGeom prst="roundRect">
            <a:avLst>
              <a:gd name="adj" fmla="val 1215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Retrieve preview" descr="Retrieve preview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3168" y="1709928"/>
            <a:ext cx="6803136" cy="43891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4 of 10 · rubric 4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Basic search: name, filters, sort, page</a:t>
            </a:r>
            <a:endParaRPr lang="en-US" sz="3200" dirty="0"/>
          </a:p>
        </p:txBody>
      </p:sp>
      <p:sp>
        <p:nvSpPr>
          <p:cNvPr id="4" name="Ghent search result frame"/>
          <p:cNvSpPr/>
          <p:nvPr/>
        </p:nvSpPr>
        <p:spPr>
          <a:xfrm>
            <a:off x="548640" y="1645920"/>
            <a:ext cx="6371960" cy="2194560"/>
          </a:xfrm>
          <a:prstGeom prst="roundRect">
            <a:avLst>
              <a:gd name="adj" fmla="val 25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Ghent search result" descr="Ghent search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6243944" cy="2066544"/>
          </a:xfrm>
          <a:prstGeom prst="rect">
            <a:avLst/>
          </a:prstGeom>
        </p:spPr>
      </p:pic>
      <p:sp>
        <p:nvSpPr>
          <p:cNvPr id="6" name="State KY filter frame"/>
          <p:cNvSpPr/>
          <p:nvPr/>
        </p:nvSpPr>
        <p:spPr>
          <a:xfrm>
            <a:off x="548640" y="3977640"/>
            <a:ext cx="6287907" cy="2194560"/>
          </a:xfrm>
          <a:prstGeom prst="roundRect">
            <a:avLst>
              <a:gd name="adj" fmla="val 25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7" name="State KY filter" descr="State KY filter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041648"/>
            <a:ext cx="6159891" cy="206654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543800" y="1691640"/>
            <a:ext cx="409651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Type “Ghent” →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1 facility.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one box for sentences and names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Basic fields filter: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state, year, fuel, unit type, IDs.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State = KY → 28 facilities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Sortable headers,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server-side pages.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Count and page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come from one query, so they always agree.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5 of 10 · rubric 5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Multi-constraint search across three tables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39319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KY + Coal + 2025 + CO₂ ≥ 500,000 t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25 unit-years.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Facilities tab → 8 plants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Three levels, one query: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facility (state) · unit (fuel) · unit-year (year, CO₂)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Shareable: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the whole search lives in the URL.</a:t>
            </a:r>
            <a:endParaRPr lang="en-US" sz="1500" dirty="0"/>
          </a:p>
        </p:txBody>
      </p:sp>
      <p:sp>
        <p:nvSpPr>
          <p:cNvPr id="5" name="code block"/>
          <p:cNvSpPr/>
          <p:nvPr/>
        </p:nvSpPr>
        <p:spPr>
          <a:xfrm>
            <a:off x="548640" y="4526280"/>
            <a:ext cx="3931920" cy="1645920"/>
          </a:xfrm>
          <a:prstGeom prst="roundRect">
            <a:avLst>
              <a:gd name="adj" fmla="val 3333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4672584"/>
            <a:ext cx="356616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/explore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?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tab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stateCode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KY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primaryFuel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Coal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year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2025</a:t>
            </a:r>
            <a:endParaRPr lang="en-US" sz="1300" dirty="0"/>
          </a:p>
          <a:p>
            <a:pPr indent="0" marL="0">
              <a:lnSpc>
                <a:spcPct val="112000"/>
              </a:lnSpc>
              <a:buNone/>
            </a:pP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&amp;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co2MassTonsMin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500000</a:t>
            </a:r>
            <a:endParaRPr lang="en-US" sz="1300" dirty="0"/>
          </a:p>
        </p:txBody>
      </p:sp>
      <p:sp>
        <p:nvSpPr>
          <p:cNvPr id="7" name="Multi-constraint search frame"/>
          <p:cNvSpPr/>
          <p:nvPr/>
        </p:nvSpPr>
        <p:spPr>
          <a:xfrm>
            <a:off x="4745817" y="1645920"/>
            <a:ext cx="6857838" cy="4526280"/>
          </a:xfrm>
          <a:prstGeom prst="roundRect">
            <a:avLst>
              <a:gd name="adj" fmla="val 1212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8" name="Multi-constraint search" descr="Multi-constraint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9825" y="1709928"/>
            <a:ext cx="6729822" cy="439826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6 of 10 · rubric 6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Description search: a sentence becomes filters</a:t>
            </a:r>
            <a:endParaRPr lang="en-US" sz="3200" dirty="0"/>
          </a:p>
        </p:txBody>
      </p:sp>
      <p:sp>
        <p:nvSpPr>
          <p:cNvPr id="4" name="sentence"/>
          <p:cNvSpPr/>
          <p:nvPr/>
        </p:nvSpPr>
        <p:spPr>
          <a:xfrm>
            <a:off x="548640" y="1691640"/>
            <a:ext cx="11091672" cy="822960"/>
          </a:xfrm>
          <a:prstGeom prst="roundRect">
            <a:avLst>
              <a:gd name="adj" fmla="val 6667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“coal units in Kentucky with high CO2”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949440" y="1956816"/>
            <a:ext cx="740664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Units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99832" y="1956816"/>
            <a:ext cx="548640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KY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458200" y="1956816"/>
            <a:ext cx="651053" cy="292608"/>
          </a:xfrm>
          <a:prstGeom prst="roundRect">
            <a:avLst>
              <a:gd name="adj" fmla="val 25000"/>
            </a:avLst>
          </a:prstGeom>
          <a:solidFill>
            <a:srgbClr val="FAF6F0"/>
          </a:solidFill>
          <a:ln w="9525">
            <a:solidFill>
              <a:srgbClr val="D3C2AD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A1F16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218981" y="1956816"/>
            <a:ext cx="1099109" cy="292608"/>
          </a:xfrm>
          <a:prstGeom prst="roundRect">
            <a:avLst>
              <a:gd name="adj" fmla="val 25000"/>
            </a:avLst>
          </a:prstGeom>
          <a:solidFill>
            <a:srgbClr val="1D4ED8"/>
          </a:solidFill>
          <a:ln w="9525">
            <a:solidFill>
              <a:srgbClr val="1D4ED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CO₂ ≥ P75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0427818" y="16916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→ 99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548640" y="2788920"/>
            <a:ext cx="39319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Rule-based parser,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no LLM needed.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longest phrase wins · any word order · typo-tolerant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“High” = 75th percentile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of the other filters.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KY coal → CO₂ ≥ 2,780,000 t, sorted ↓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Chips are real filters: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✕ removes one.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Optional LLM fallback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leftover words only.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validated against DB values · 8 s timeout</a:t>
            </a:r>
            <a:endParaRPr lang="en-US" sz="1500" dirty="0"/>
          </a:p>
        </p:txBody>
      </p:sp>
      <p:sp>
        <p:nvSpPr>
          <p:cNvPr id="12" name="Description search result frame"/>
          <p:cNvSpPr/>
          <p:nvPr/>
        </p:nvSpPr>
        <p:spPr>
          <a:xfrm>
            <a:off x="4783989" y="2743200"/>
            <a:ext cx="6781495" cy="3429000"/>
          </a:xfrm>
          <a:prstGeom prst="roundRect">
            <a:avLst>
              <a:gd name="adj" fmla="val 16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13" name="Description search result" descr="Description search resul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7997" y="2807208"/>
            <a:ext cx="6653479" cy="330098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7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Ranking with one window function</a:t>
            </a:r>
            <a:endParaRPr lang="en-US" sz="3200" dirty="0"/>
          </a:p>
        </p:txBody>
      </p:sp>
      <p:sp>
        <p:nvSpPr>
          <p:cNvPr id="4" name="code block"/>
          <p:cNvSpPr/>
          <p:nvPr/>
        </p:nvSpPr>
        <p:spPr>
          <a:xfrm>
            <a:off x="548640" y="1645920"/>
            <a:ext cx="5486400" cy="4526280"/>
          </a:xfrm>
          <a:prstGeom prst="roundRect">
            <a:avLst>
              <a:gd name="adj" fmla="val 1212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49808" y="1792224"/>
            <a:ext cx="5120640" cy="3959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*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SELECT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f.state_code, f.name, ar.co2_mass_tons,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ROW_NUMBER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()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OVER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(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PARTITION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f.state_code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per state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ar.co2_mass_tons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IS NULL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           ar.co2_mass_tons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DESC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, ar.id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annual_records ar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units u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ar.unit_internal_id = u.id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JOIN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facilities f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ON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ar.facility_id = f.id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ar.year = 2024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)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AS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ranked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WHERE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rank &lt;= 1                      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AB9A88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 top N</a:t>
            </a:r>
            <a:endParaRPr lang="en-US" sz="1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7EA6F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ORDER BY</a:t>
            </a:r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state_code;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49808" y="578815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B9A88"/>
                </a:solidFill>
              </a:rPr>
              <a:t>Simplified from rankedUnitYears(): page, count, and CSV share this subquery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6355080" y="1691640"/>
            <a:ext cx="5285232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“top CO2-emitting facility in each state in 2024”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Ranking = First 1 · Group = Per state · Year 2024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51 facilities,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one per state.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page 2: Kentucky → Ghent</a:t>
            </a:r>
            <a:endParaRPr lang="en-US" sz="1500" dirty="0"/>
          </a:p>
        </p:txBody>
      </p:sp>
      <p:sp>
        <p:nvSpPr>
          <p:cNvPr id="8" name="Top CO2 facility per state 2024 frame"/>
          <p:cNvSpPr/>
          <p:nvPr/>
        </p:nvSpPr>
        <p:spPr>
          <a:xfrm>
            <a:off x="6355080" y="3063240"/>
            <a:ext cx="4426121" cy="3108960"/>
          </a:xfrm>
          <a:prstGeom prst="roundRect">
            <a:avLst>
              <a:gd name="adj" fmla="val 1765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9" name="Top CO2 facility per state 2024" descr="Top CO2 facility per state 2024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9088" y="3127248"/>
            <a:ext cx="4298105" cy="2980944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8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Unit detail: thirteen years of history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480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Search “Ghent” on Unit-years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open unit 1.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Identification, fuel,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and per-year controls.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13 reporting years,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2014–2026.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2014 = our upload · 2015–2026 = CAMPD API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Audit flags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listed at the bottom.</a:t>
            </a:r>
            <a:endParaRPr lang="en-US" sz="1500" dirty="0"/>
          </a:p>
        </p:txBody>
      </p:sp>
      <p:sp>
        <p:nvSpPr>
          <p:cNvPr id="5" name="Ghent unit 1 dialog frame"/>
          <p:cNvSpPr/>
          <p:nvPr/>
        </p:nvSpPr>
        <p:spPr>
          <a:xfrm>
            <a:off x="5257800" y="1645920"/>
            <a:ext cx="6382512" cy="3880714"/>
          </a:xfrm>
          <a:prstGeom prst="roundRect">
            <a:avLst>
              <a:gd name="adj" fmla="val 1414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6" name="Ghent unit 1 dialog" descr="Ghent unit 1 dialo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21808" y="1709928"/>
            <a:ext cx="6254496" cy="375269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9 of 10 · rubric 1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Compare plants side by side</a:t>
            </a:r>
            <a:endParaRPr lang="en-US" sz="3200" dirty="0"/>
          </a:p>
        </p:txBody>
      </p:sp>
      <p:sp>
        <p:nvSpPr>
          <p:cNvPr id="4" name="Compare Ghent and Paradise frame"/>
          <p:cNvSpPr/>
          <p:nvPr/>
        </p:nvSpPr>
        <p:spPr>
          <a:xfrm>
            <a:off x="548640" y="1645920"/>
            <a:ext cx="6446520" cy="3919118"/>
          </a:xfrm>
          <a:prstGeom prst="roundRect">
            <a:avLst>
              <a:gd name="adj" fmla="val 1400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Compare Ghent and Paradise" descr="Compare Ghent and Paradi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6318504" cy="379110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269480" y="1691640"/>
            <a:ext cx="4370832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Tick Ghent + Paradise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→ Compare.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Side by side: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capacity, generation, CO₂, intensity, controls.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Paradise is cleanest: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861 vs 1,929 lb/MWh.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its current units burn gas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7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Up to 4 plants.</a:t>
            </a:r>
            <a:pPr indent="0" marL="0">
              <a:lnSpc>
                <a:spcPct val="105000"/>
              </a:lnSpc>
              <a:buNone/>
            </a:pP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a 5th: “Up to 4; remove one first”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Demo · step 10 of 10 · rubric 7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Download: every record traces to its source</a:t>
            </a:r>
            <a:endParaRPr lang="en-US" sz="3200" dirty="0"/>
          </a:p>
        </p:txBody>
      </p:sp>
      <p:sp>
        <p:nvSpPr>
          <p:cNvPr id="4" name="Download page frame"/>
          <p:cNvSpPr/>
          <p:nvPr/>
        </p:nvSpPr>
        <p:spPr>
          <a:xfrm>
            <a:off x="548640" y="1645920"/>
            <a:ext cx="5412595" cy="2514600"/>
          </a:xfrm>
          <a:prstGeom prst="roundRect">
            <a:avLst>
              <a:gd name="adj" fmla="val 2182"/>
            </a:avLst>
          </a:prstGeom>
          <a:solidFill>
            <a:srgbClr val="FAF6F0"/>
          </a:solidFill>
          <a:ln w="9525">
            <a:solidFill>
              <a:srgbClr val="D3C2AD"/>
            </a:solidFill>
            <a:prstDash val="solid"/>
          </a:ln>
        </p:spPr>
      </p:sp>
      <p:pic>
        <p:nvPicPr>
          <p:cNvPr id="5" name="Download page" descr="Download pag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709928"/>
            <a:ext cx="5284579" cy="23865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589520" y="1691640"/>
            <a:ext cx="4050792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lnSpc>
                <a:spcPct val="105000"/>
              </a:lnSpc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CSV by any result: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every matching row, all pages.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Invalid records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for the upload = the step 2 report.</a:t>
            </a:r>
            <a:endParaRPr lang="en-US" sz="1500" dirty="0"/>
          </a:p>
          <a:p>
            <a:pPr marL="203200" indent="-203200">
              <a:lnSpc>
                <a:spcPct val="105000"/>
              </a:lnSpc>
              <a:spcBef>
                <a:spcPts val="800"/>
              </a:spcBef>
              <a:spcAft>
                <a:spcPts val="200"/>
              </a:spcAft>
              <a:buSzPct val="100000"/>
              <a:buChar char="■"/>
            </a:pPr>
            <a:r>
              <a:rPr lang="en-US" sz="1500" b="1" dirty="0">
                <a:solidFill>
                  <a:srgbClr val="2A1F16"/>
                </a:solidFill>
              </a:rPr>
              <a:t>Provenance:</a:t>
            </a:r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4A3A2C"/>
                </a:solidFill>
              </a:rPr>
              <a:t> one row per dataset.</a:t>
            </a:r>
            <a:endParaRPr lang="en-US" sz="1500" dirty="0"/>
          </a:p>
          <a:p>
            <a:pPr lvl="1" marL="355600" indent="-177800">
              <a:lnSpc>
                <a:spcPct val="105000"/>
              </a:lnSpc>
              <a:spcAft>
                <a:spcPts val="100"/>
              </a:spcAft>
              <a:buSzPct val="100000"/>
              <a:buChar char="–"/>
            </a:pPr>
            <a:r>
              <a:rPr lang="en-US" sz="1300" dirty="0">
                <a:solidFill>
                  <a:srgbClr val="6B5948"/>
                </a:solidFill>
              </a:rPr>
              <a:t>source · date · query · new / updated / unchanged / dropped</a:t>
            </a:r>
            <a:endParaRPr lang="en-US" sz="1500" dirty="0"/>
          </a:p>
        </p:txBody>
      </p:sp>
      <p:sp>
        <p:nvSpPr>
          <p:cNvPr id="7" name="type Dataset"/>
          <p:cNvSpPr/>
          <p:nvPr/>
        </p:nvSpPr>
        <p:spPr>
          <a:xfrm>
            <a:off x="548640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Dataset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all records of one dataset</a:t>
            </a:r>
            <a:endParaRPr lang="en-US" sz="1200" dirty="0"/>
          </a:p>
        </p:txBody>
      </p:sp>
      <p:sp>
        <p:nvSpPr>
          <p:cNvPr id="10" name="type Valid records"/>
          <p:cNvSpPr/>
          <p:nvPr/>
        </p:nvSpPr>
        <p:spPr>
          <a:xfrm>
            <a:off x="2420112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2420112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Valid records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2420112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stored rows only</a:t>
            </a:r>
            <a:endParaRPr lang="en-US" sz="1200" dirty="0"/>
          </a:p>
        </p:txBody>
      </p:sp>
      <p:sp>
        <p:nvSpPr>
          <p:cNvPr id="13" name="type Invalid records"/>
          <p:cNvSpPr/>
          <p:nvPr/>
        </p:nvSpPr>
        <p:spPr>
          <a:xfrm>
            <a:off x="4291584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1584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Invalid records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291584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rejected + duplicate + flagged</a:t>
            </a:r>
            <a:endParaRPr lang="en-US" sz="1200" dirty="0"/>
          </a:p>
        </p:txBody>
      </p:sp>
      <p:sp>
        <p:nvSpPr>
          <p:cNvPr id="16" name="type Search results"/>
          <p:cNvSpPr/>
          <p:nvPr/>
        </p:nvSpPr>
        <p:spPr>
          <a:xfrm>
            <a:off x="6163056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163056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Search results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163056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same query as the table, all pages</a:t>
            </a:r>
            <a:endParaRPr lang="en-US" sz="1200" dirty="0"/>
          </a:p>
        </p:txBody>
      </p:sp>
      <p:sp>
        <p:nvSpPr>
          <p:cNvPr id="19" name="type Selection"/>
          <p:cNvSpPr/>
          <p:nvPr/>
        </p:nvSpPr>
        <p:spPr>
          <a:xfrm>
            <a:off x="8034528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034528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Selection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8034528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your comparison picks</a:t>
            </a:r>
            <a:endParaRPr lang="en-US" sz="1200" dirty="0"/>
          </a:p>
        </p:txBody>
      </p:sp>
      <p:sp>
        <p:nvSpPr>
          <p:cNvPr id="22" name="type Provenance"/>
          <p:cNvSpPr/>
          <p:nvPr/>
        </p:nvSpPr>
        <p:spPr>
          <a:xfrm>
            <a:off x="9906000" y="4389120"/>
            <a:ext cx="173431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906000" y="4553712"/>
            <a:ext cx="1642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Provenance</a:t>
            </a:r>
            <a:endParaRPr lang="en-US" sz="1400" dirty="0"/>
          </a:p>
        </p:txBody>
      </p:sp>
      <p:sp>
        <p:nvSpPr>
          <p:cNvPr id="24" name="Text 21"/>
          <p:cNvSpPr txBox="1"/>
          <p:nvPr/>
        </p:nvSpPr>
        <p:spPr>
          <a:xfrm>
            <a:off x="9906000" y="4864608"/>
            <a:ext cx="16428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one row per dataset + diff counts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548640" y="5897880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5948"/>
                </a:solidFill>
              </a:rPr>
              <a:t>CSV per RFC 4180 · unit-year rows carry dataset_id, origin, dataset_imported_at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What we learned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Technical challenges</a:t>
            </a:r>
            <a:endParaRPr lang="en-US" sz="3200" dirty="0"/>
          </a:p>
        </p:txBody>
      </p:sp>
      <p:sp>
        <p:nvSpPr>
          <p:cNvPr id="4" name="challenge Combined values"/>
          <p:cNvSpPr/>
          <p:nvPr/>
        </p:nvSpPr>
        <p:spPr>
          <a:xfrm>
            <a:off x="548640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Combined values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“Coal, Pipeline Natural Gas” broke equality filters.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Split options · substring match</a:t>
            </a:r>
            <a:endParaRPr lang="en-US" sz="1300" dirty="0"/>
          </a:p>
        </p:txBody>
      </p:sp>
      <p:sp>
        <p:nvSpPr>
          <p:cNvPr id="8" name="challenge Missing ≠ zero"/>
          <p:cNvSpPr/>
          <p:nvPr/>
        </p:nvSpPr>
        <p:spPr>
          <a:xfrm>
            <a:off x="4322064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322064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Missing ≠ zero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4322064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DEFAULT 0 created 6,105 false errors.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4322064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Nullable metrics · WARN rule</a:t>
            </a:r>
            <a:endParaRPr lang="en-US" sz="1300" dirty="0"/>
          </a:p>
        </p:txBody>
      </p:sp>
      <p:sp>
        <p:nvSpPr>
          <p:cNvPr id="12" name="challenge Superseded datasets"/>
          <p:cNvSpPr/>
          <p:nvPr/>
        </p:nvSpPr>
        <p:spPr>
          <a:xfrm>
            <a:off x="8095488" y="164592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95488" y="182880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Superseded datasets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095488" y="242316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Re-syncs left old datasets owning nothing.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8095488" y="318211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Keep and label as history</a:t>
            </a:r>
            <a:endParaRPr lang="en-US" sz="1300" dirty="0"/>
          </a:p>
        </p:txBody>
      </p:sp>
      <p:sp>
        <p:nvSpPr>
          <p:cNvPr id="16" name="challenge ORM-generated SQL"/>
          <p:cNvSpPr/>
          <p:nvPr/>
        </p:nvSpPr>
        <p:spPr>
          <a:xfrm>
            <a:off x="548640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ORM-generated SQL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An unqualified id bound to the wrong table.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Qualify · read the SQL</a:t>
            </a:r>
            <a:endParaRPr lang="en-US" sz="1300" dirty="0"/>
          </a:p>
        </p:txBody>
      </p:sp>
      <p:sp>
        <p:nvSpPr>
          <p:cNvPr id="20" name="challenge “IN” and “OR”"/>
          <p:cNvSpPr/>
          <p:nvPr/>
        </p:nvSpPr>
        <p:spPr>
          <a:xfrm>
            <a:off x="4322064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322064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“IN” and “OR”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4322064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State codes that are also English words.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322064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Codes count only in capitals</a:t>
            </a:r>
            <a:endParaRPr lang="en-US" sz="1300" dirty="0"/>
          </a:p>
        </p:txBody>
      </p:sp>
      <p:sp>
        <p:nvSpPr>
          <p:cNvPr id="24" name="challenge Query shape vs. index"/>
          <p:cNvSpPr/>
          <p:nvPr/>
        </p:nvSpPr>
        <p:spPr>
          <a:xfrm>
            <a:off x="8095488" y="3977640"/>
            <a:ext cx="3544824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095488" y="4160520"/>
            <a:ext cx="33619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A1F16"/>
                </a:solidFill>
              </a:rPr>
              <a:t>Query shape vs. index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095488" y="4754880"/>
            <a:ext cx="33619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Year-filtered ranking took 9.5 s.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095488" y="5513832"/>
            <a:ext cx="3361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803D"/>
                </a:solidFill>
              </a:rPr>
              <a:t>Fix  </a:t>
            </a:r>
            <a:pPr indent="0" marL="0">
              <a:buNone/>
            </a:pPr>
            <a:r>
              <a:rPr lang="en-US" sz="1300" dirty="0">
                <a:solidFill>
                  <a:srgbClr val="2A1F16"/>
                </a:solidFill>
              </a:rPr>
              <a:t>(facility_id, year): 22 ms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Team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Who built what</a:t>
            </a:r>
            <a:endParaRPr lang="en-US" sz="3200" dirty="0"/>
          </a:p>
        </p:txBody>
      </p:sp>
      <p:sp>
        <p:nvSpPr>
          <p:cNvPr id="4" name="member Raaj Banga"/>
          <p:cNvSpPr/>
          <p:nvPr/>
        </p:nvSpPr>
        <p:spPr>
          <a:xfrm>
            <a:off x="548640" y="1645920"/>
            <a:ext cx="5408676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901952"/>
            <a:ext cx="566928" cy="566928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RB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56232"/>
            <a:ext cx="44942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F16"/>
                </a:solidFill>
              </a:rPr>
              <a:t>Raaj Banga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Backend lead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43200"/>
            <a:ext cx="52257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Schema, 7 migrations, 14 indexes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CAMPD client: preview, diff, granular series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Shared write path · audits · provenance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Search backend · description search · CSV export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Explore page, map / globe, detail + compare dialog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Tests, README, report</a:t>
            </a:r>
            <a:endParaRPr lang="en-US" sz="1600" dirty="0"/>
          </a:p>
        </p:txBody>
      </p:sp>
      <p:sp>
        <p:nvSpPr>
          <p:cNvPr id="9" name="member Arnav Bawankule"/>
          <p:cNvSpPr/>
          <p:nvPr/>
        </p:nvSpPr>
        <p:spPr>
          <a:xfrm>
            <a:off x="6231636" y="1645920"/>
            <a:ext cx="5408676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31636" y="1901952"/>
            <a:ext cx="566928" cy="566928"/>
          </a:xfrm>
          <a:prstGeom prst="ellipse">
            <a:avLst/>
          </a:prstGeom>
          <a:solidFill>
            <a:srgbClr val="2A1F16"/>
          </a:solidFill>
          <a:ln w="12700">
            <a:solidFill>
              <a:srgbClr val="2A1F1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31636" y="19019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AB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963156" y="1856232"/>
            <a:ext cx="44942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A1F16"/>
                </a:solidFill>
              </a:rPr>
              <a:t>Arnav Bawankule</a:t>
            </a:r>
            <a:endParaRPr lang="en-US" sz="1900" dirty="0"/>
          </a:p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Frontend lead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231636" y="2743200"/>
            <a:ext cx="522579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CSV + Excel import feature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Python parser: column mapping and validation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Data-quality report: rejected and duplicate rows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Upload endpoint + page with preview / approve</a:t>
            </a:r>
            <a:endParaRPr lang="en-US" sz="1600" dirty="0"/>
          </a:p>
          <a:p>
            <a:pPr marL="228600" indent="-228600">
              <a:spcAft>
                <a:spcPts val="600"/>
              </a:spcAft>
              <a:buSzPct val="100000"/>
              <a:buChar char="–"/>
            </a:pPr>
            <a:r>
              <a:rPr lang="en-US" sz="1600" dirty="0">
                <a:solidFill>
                  <a:srgbClr val="4A3A2C"/>
                </a:solidFill>
              </a:rPr>
              <a:t>First import tests</a:t>
            </a:r>
            <a:endParaRPr lang="en-US" sz="1600" dirty="0"/>
          </a:p>
        </p:txBody>
      </p:sp>
      <p:sp>
        <p:nvSpPr>
          <p:cNvPr id="14" name="shared"/>
          <p:cNvSpPr/>
          <p:nvPr/>
        </p:nvSpPr>
        <p:spPr>
          <a:xfrm>
            <a:off x="548640" y="5623560"/>
            <a:ext cx="11091672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8640" y="5623560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A1F16"/>
                </a:solidFill>
              </a:rPr>
              <a:t>Shared  </a:t>
            </a:r>
            <a:pPr indent="0" marL="0">
              <a:buNone/>
            </a:pPr>
            <a:r>
              <a:rPr lang="en-US" sz="1400" dirty="0">
                <a:solidFill>
                  <a:srgbClr val="4A3A2C"/>
                </a:solidFill>
              </a:rPr>
              <a:t>API contracts · integration testing · sample data · documentation · this presentation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3657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5948"/>
                </a:solidFill>
              </a:rPr>
              <a:t>Thank you</a:t>
            </a:r>
            <a:endParaRPr lang="en-US" sz="13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76656"/>
            <a:ext cx="11064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2A1F16"/>
                </a:solidFill>
              </a:rPr>
              <a:t>Questions?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916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5948"/>
                </a:solidFill>
              </a:rPr>
              <a:t>What's next</a:t>
            </a:r>
            <a:endParaRPr lang="en-US" sz="1200" dirty="0"/>
          </a:p>
        </p:txBody>
      </p:sp>
      <p:sp>
        <p:nvSpPr>
          <p:cNvPr id="5" name="next Phase 2: evaluation"/>
          <p:cNvSpPr/>
          <p:nvPr/>
        </p:nvSpPr>
        <p:spPr>
          <a:xfrm>
            <a:off x="548640" y="210312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0312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Phase 2: evaluation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TRACI factors, indicators, and weighted scoring on top of the stored unit-years</a:t>
            </a:r>
            <a:endParaRPr lang="en-US" sz="1500" dirty="0"/>
          </a:p>
        </p:txBody>
      </p:sp>
      <p:sp>
        <p:nvSpPr>
          <p:cNvPr id="7" name="next Record history"/>
          <p:cNvSpPr/>
          <p:nvPr/>
        </p:nvSpPr>
        <p:spPr>
          <a:xfrm>
            <a:off x="548640" y="315468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315468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Record history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Keep overwritten values in a history table instead of last-writer-wins</a:t>
            </a:r>
            <a:endParaRPr lang="en-US" sz="1500" dirty="0"/>
          </a:p>
        </p:txBody>
      </p:sp>
      <p:sp>
        <p:nvSpPr>
          <p:cNvPr id="9" name="next Shared deployment"/>
          <p:cNvSpPr/>
          <p:nvPr/>
        </p:nvSpPr>
        <p:spPr>
          <a:xfrm>
            <a:off x="548640" y="4206240"/>
            <a:ext cx="6583680" cy="0"/>
          </a:xfrm>
          <a:prstGeom prst="line">
            <a:avLst/>
          </a:prstGeom>
          <a:noFill/>
          <a:ln w="9525">
            <a:solidFill>
              <a:srgbClr val="D3C2A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06240"/>
            <a:ext cx="64008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A1F16"/>
                </a:solidFill>
              </a:rPr>
              <a:t>Shared deployment</a:t>
            </a:r>
            <a:endParaRPr lang="en-US" sz="1500" dirty="0"/>
          </a:p>
          <a:p>
            <a:pPr indent="0" marL="0">
              <a:buNone/>
            </a:pPr>
            <a:r>
              <a:rPr lang="en-US" sz="1250" dirty="0">
                <a:solidFill>
                  <a:srgbClr val="6B5948"/>
                </a:solidFill>
              </a:rPr>
              <a:t>Hosted libSQL with user accounts for upload and retrieval</a:t>
            </a:r>
            <a:endParaRPr lang="en-US" sz="1500" dirty="0"/>
          </a:p>
        </p:txBody>
      </p:sp>
      <p:sp>
        <p:nvSpPr>
          <p:cNvPr id="11" name="reproduce"/>
          <p:cNvSpPr/>
          <p:nvPr/>
        </p:nvSpPr>
        <p:spPr>
          <a:xfrm>
            <a:off x="7498080" y="1691640"/>
            <a:ext cx="4142232" cy="3749040"/>
          </a:xfrm>
          <a:prstGeom prst="roundRect">
            <a:avLst>
              <a:gd name="adj" fmla="val 1463"/>
            </a:avLst>
          </a:prstGeom>
          <a:solidFill>
            <a:srgbClr val="1D1813"/>
          </a:solidFill>
          <a:ln w="9525">
            <a:solidFill>
              <a:srgbClr val="483C3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726680" y="1874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B9A88"/>
                </a:solidFill>
              </a:rPr>
              <a:t>Reproduce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726680" y="2286000"/>
            <a:ext cx="37490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install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python3 -m venv .venv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.venv/bin/pip install \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-r requirements.txt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cp .env.example .env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run db:migrate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F4EDE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npm run dev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7726680" y="4663440"/>
            <a:ext cx="3703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B9A88"/>
                </a:solidFill>
              </a:rPr>
              <a:t>Full steps, env vars, and expected counts in README.md · sample upload in samples/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4415" y="640080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rgbClr val="6B5948"/>
                </a:solidFill>
                <a:latin typeface="IBM Plex Mono"/>
                <a:ea typeface="IBM Plex Mono"/>
                <a:cs typeface="IBM Plex Mono"/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paData Latte">
  <a:themeElements>
    <a:clrScheme name="epaData Latte">
      <a:dk1>
        <a:srgbClr val="2A1F16"/>
      </a:dk1>
      <a:lt1>
        <a:srgbClr val="FAF6F0"/>
      </a:lt1>
      <a:dk2>
        <a:srgbClr val="4A3A2C"/>
      </a:dk2>
      <a:lt2>
        <a:srgbClr val="EFE6DA"/>
      </a:lt2>
      <a:accent1>
        <a:srgbClr val="1D4ED8"/>
      </a:accent1>
      <a:accent2>
        <a:srgbClr val="15803D"/>
      </a:accent2>
      <a:accent3>
        <a:srgbClr val="B45309"/>
      </a:accent3>
      <a:accent4>
        <a:srgbClr val="B91C1C"/>
      </a:accent4>
      <a:accent5>
        <a:srgbClr val="0369A1"/>
      </a:accent5>
      <a:accent6>
        <a:srgbClr val="6B5948"/>
      </a:accent6>
      <a:hlink>
        <a:srgbClr val="1D4ED8"/>
      </a:hlink>
      <a:folHlink>
        <a:srgbClr val="0369A1"/>
      </a:folHlink>
    </a:clrScheme>
    <a:fontScheme name="epaData Latte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epaData: CS396 Phase 1</dc:title>
  <dc:subject>PptxGenJS Presentation</dc:subject>
  <dc:creator>Raaj Banga, Arnav Bawankule</dc:creator>
  <cp:lastModifiedBy>Raaj Banga, Arnav Bawankule</cp:lastModifiedBy>
  <cp:revision>1</cp:revision>
  <dcterms:created xsi:type="dcterms:W3CDTF">2026-10-10T20:56:30Z</dcterms:created>
  <dcterms:modified xsi:type="dcterms:W3CDTF">2026-10-10T20:56:30Z</dcterms:modified>
</cp:coreProperties>
</file>